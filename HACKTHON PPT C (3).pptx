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5" r:id="rId5"/>
    <p:sldId id="266" r:id="rId6"/>
    <p:sldId id="269" r:id="rId7"/>
    <p:sldId id="271" r:id="rId8"/>
    <p:sldId id="273" r:id="rId9"/>
    <p:sldId id="275" r:id="rId10"/>
    <p:sldId id="276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l="-1000" t="-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8765" y="1164590"/>
            <a:ext cx="6938010" cy="2050415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5200" b="1">
                <a:solidFill>
                  <a:schemeClr val="bg1"/>
                </a:solidFill>
                <a:latin typeface="思源黑体 Medium"/>
                <a:ea typeface="思源黑体 Medium"/>
              </a:rPr>
              <a:t>Smart Emergency Patient Coordination System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294640" y="4987925"/>
            <a:ext cx="5930265" cy="368300"/>
            <a:chOff x="56" y="6863"/>
            <a:chExt cx="9339" cy="580"/>
          </a:xfrm>
        </p:grpSpPr>
        <p:grpSp>
          <p:nvGrpSpPr>
            <p:cNvPr id="4" name="Group 4"/>
            <p:cNvGrpSpPr/>
            <p:nvPr/>
          </p:nvGrpSpPr>
          <p:grpSpPr>
            <a:xfrm>
              <a:off x="596" y="6863"/>
              <a:ext cx="8799" cy="580"/>
              <a:chOff x="2772531" y="3710812"/>
              <a:chExt cx="5587365" cy="368300"/>
            </a:xfrm>
            <a:noFill/>
          </p:grpSpPr>
          <p:sp>
            <p:nvSpPr>
              <p:cNvPr id="5" name="TextBox 5"/>
              <p:cNvSpPr txBox="1"/>
              <p:nvPr/>
            </p:nvSpPr>
            <p:spPr>
              <a:xfrm>
                <a:off x="2772531" y="3710812"/>
                <a:ext cx="2554605" cy="3683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indent="0" algn="l" fontAlgn="auto">
                  <a:defRPr/>
                </a:pPr>
                <a:r>
                  <a:rPr lang="en-US" dirty="0">
                    <a:solidFill>
                      <a:srgbClr val="23423C"/>
                    </a:solidFill>
                    <a:latin typeface="思源黑体 Normal"/>
                  </a:rPr>
                  <a:t>Y.HEMA SAI LAHARI</a:t>
                </a:r>
              </a:p>
              <a:p>
                <a:pPr marL="0" indent="0" algn="l" fontAlgn="auto">
                  <a:defRPr/>
                </a:pPr>
                <a:r>
                  <a:rPr lang="en-US" dirty="0">
                    <a:solidFill>
                      <a:srgbClr val="23423C"/>
                    </a:solidFill>
                    <a:latin typeface="思源黑体 Normal"/>
                  </a:rPr>
                  <a:t>MANASA</a:t>
                </a:r>
              </a:p>
              <a:p>
                <a:pPr marL="0" indent="0" algn="l" fontAlgn="auto">
                  <a:defRPr/>
                </a:pPr>
                <a:r>
                  <a:rPr lang="en-US" dirty="0">
                    <a:solidFill>
                      <a:srgbClr val="23423C"/>
                    </a:solidFill>
                    <a:latin typeface="思源黑体 Normal"/>
                  </a:rPr>
                  <a:t>KAVYA SHREE</a:t>
                </a:r>
                <a:endParaRPr lang="en-US" dirty="0"/>
              </a:p>
            </p:txBody>
          </p:sp>
          <p:sp>
            <p:nvSpPr>
              <p:cNvPr id="6" name="AutoShape 6"/>
              <p:cNvSpPr/>
              <p:nvPr/>
            </p:nvSpPr>
            <p:spPr>
              <a:xfrm>
                <a:off x="5676386" y="3710812"/>
                <a:ext cx="2683510" cy="3683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fontAlgn="auto"/>
                <a:r>
                  <a:rPr lang="en-US" sz="1800" dirty="0">
                    <a:solidFill>
                      <a:srgbClr val="23423C"/>
                    </a:solidFill>
                    <a:latin typeface="思源黑体 Normal"/>
                    <a:ea typeface="思源黑体 Normal"/>
                  </a:rPr>
                  <a:t>Date:2026-08-28</a:t>
                </a:r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56" y="6874"/>
              <a:ext cx="551" cy="558"/>
            </a:xfrm>
            <a:prstGeom prst="ellipse">
              <a:avLst/>
            </a:prstGeom>
            <a:solidFill>
              <a:srgbClr val="2699F6"/>
            </a:solidFill>
            <a:ln>
              <a:noFill/>
            </a:ln>
          </p:spPr>
          <p:txBody>
            <a:bodyPr vert="horz" lIns="91440" tIns="45720" rIns="91440" bIns="45720" anchor="ctr"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8" name="AutoShape 8"/>
            <p:cNvSpPr/>
            <p:nvPr/>
          </p:nvSpPr>
          <p:spPr>
            <a:xfrm>
              <a:off x="4618" y="6874"/>
              <a:ext cx="551" cy="558"/>
            </a:xfrm>
            <a:prstGeom prst="ellipse">
              <a:avLst/>
            </a:prstGeom>
            <a:solidFill>
              <a:srgbClr val="2699F6"/>
            </a:solidFill>
            <a:ln>
              <a:noFill/>
            </a:ln>
          </p:spPr>
          <p:txBody>
            <a:bodyPr vert="horz" lIns="91440" tIns="45720" rIns="91440" bIns="45720" anchor="ctr">
              <a:noAutofit/>
            </a:bodyPr>
            <a:lstStyle/>
            <a:p>
              <a:pPr marL="0" algn="l"/>
              <a:endParaRPr/>
            </a:p>
          </p:txBody>
        </p:sp>
      </p:grpSp>
      <p:cxnSp>
        <p:nvCxnSpPr>
          <p:cNvPr id="9" name="Connector 9"/>
          <p:cNvCxnSpPr/>
          <p:nvPr/>
        </p:nvCxnSpPr>
        <p:spPr>
          <a:xfrm>
            <a:off x="299085" y="3357880"/>
            <a:ext cx="6029960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</a:ln>
        </p:spPr>
      </p:cxnSp>
      <p:sp>
        <p:nvSpPr>
          <p:cNvPr id="11" name="AutoShape 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7700" y="1528982"/>
            <a:ext cx="10848976" cy="4549862"/>
            <a:chOff x="671512" y="1814732"/>
            <a:chExt cx="10848976" cy="4549862"/>
          </a:xfrm>
        </p:grpSpPr>
        <p:cxnSp>
          <p:nvCxnSpPr>
            <p:cNvPr id="3" name="Connector 3"/>
            <p:cNvCxnSpPr/>
            <p:nvPr/>
          </p:nvCxnSpPr>
          <p:spPr>
            <a:xfrm>
              <a:off x="6115050" y="4152949"/>
              <a:ext cx="0" cy="2211645"/>
            </a:xfrm>
            <a:prstGeom prst="line">
              <a:avLst/>
            </a:prstGeom>
            <a:ln w="6350" cap="rnd">
              <a:solidFill>
                <a:schemeClr val="tx2">
                  <a:alpha val="50000"/>
                </a:schemeClr>
              </a:solidFill>
            </a:ln>
          </p:spPr>
        </p:cxnSp>
        <p:grpSp>
          <p:nvGrpSpPr>
            <p:cNvPr id="4" name="Group 4"/>
            <p:cNvGrpSpPr/>
            <p:nvPr/>
          </p:nvGrpSpPr>
          <p:grpSpPr>
            <a:xfrm>
              <a:off x="671512" y="1814732"/>
              <a:ext cx="10848976" cy="2177071"/>
              <a:chOff x="671512" y="1814732"/>
              <a:chExt cx="10848976" cy="2177071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71512" y="1814732"/>
                <a:ext cx="10848976" cy="1776193"/>
              </a:xfrm>
              <a:prstGeom prst="rect">
                <a:avLst/>
              </a:prstGeom>
              <a:blipFill rotWithShape="1">
                <a:blip r:embed="rId3"/>
                <a:stretch>
                  <a:fillRect l="7" t="-147894" r="-7" b="-147244"/>
                </a:stretch>
              </a:blipFill>
              <a:ln cap="flat" cmpd="sng">
                <a:noFill/>
                <a:prstDash val="solid"/>
                <a:miter lim="800000"/>
              </a:ln>
              <a:effectLst/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" name="AutoShape 6"/>
              <p:cNvSpPr/>
              <p:nvPr/>
            </p:nvSpPr>
            <p:spPr>
              <a:xfrm>
                <a:off x="2829838" y="3156181"/>
                <a:ext cx="835622" cy="835622"/>
              </a:xfrm>
              <a:prstGeom prst="ellipse">
                <a:avLst/>
              </a:prstGeom>
              <a:solidFill>
                <a:srgbClr val="3A7FFC"/>
              </a:solidFill>
              <a:ln>
                <a:noFill/>
              </a:ln>
              <a:effectLst/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8590040" y="3156181"/>
              <a:ext cx="835622" cy="835622"/>
            </a:xfrm>
            <a:prstGeom prst="ellipse">
              <a:avLst/>
            </a:prstGeom>
            <a:solidFill>
              <a:srgbClr val="3A7FFC"/>
            </a:solidFill>
            <a:ln>
              <a:noFill/>
            </a:ln>
            <a:effectLst/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06065" y="2943860"/>
            <a:ext cx="840740" cy="6794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2400" b="1">
                <a:solidFill>
                  <a:schemeClr val="bg1"/>
                </a:solidFill>
                <a:latin typeface="思源黑体 Normal"/>
                <a:ea typeface="思源黑体 Normal"/>
              </a:rPr>
              <a:t>01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563610" y="2960370"/>
            <a:ext cx="838200" cy="6794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2400" b="1">
                <a:solidFill>
                  <a:schemeClr val="bg1"/>
                </a:solidFill>
                <a:latin typeface="思源黑体 Normal"/>
                <a:ea typeface="思源黑体 Normal"/>
              </a:rPr>
              <a:t>02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775970" y="3756660"/>
            <a:ext cx="4896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88000"/>
              </a:lnSpc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Coarse locking limits performance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75970" y="432181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>
                <a:solidFill>
                  <a:srgbClr val="333333"/>
                </a:solidFill>
                <a:latin typeface="思源黑体 Normal"/>
                <a:ea typeface="思源黑体 Normal"/>
              </a:rPr>
              <a:t>A single global lock can protect shared data, but it also blocks unrelated patient operations. As patient volume grows, this approach creates unnecessary waiting and reduces system scalability.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1460" y="3756660"/>
            <a:ext cx="4896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88000"/>
              </a:lnSpc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Unsynchronized access risks integrity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1460" y="432181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>
                <a:solidFill>
                  <a:srgbClr val="333333"/>
                </a:solidFill>
                <a:latin typeface="思源黑体 Normal"/>
                <a:ea typeface="思源黑体 Normal"/>
              </a:rPr>
              <a:t>Without synchronization, concurrent read–modify–write operations may interleave unpredictably. One department can silently overwrite another department’s update, leaving the record incomplete or corrupted.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3A7FFC"/>
                </a:solidFill>
                <a:latin typeface="思源黑体 Normal"/>
                <a:ea typeface="思源黑体 Normal"/>
              </a:rPr>
              <a:t>Why Traditional Handling Falls Short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3A7FFC"/>
          </a:solidFill>
        </p:spPr>
      </p:sp>
      <p:sp>
        <p:nvSpPr>
          <p:cNvPr id="16" name="AutoShape 1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012430" y="1141095"/>
            <a:ext cx="3296285" cy="5153660"/>
          </a:xfrm>
          <a:prstGeom prst="snip2DiagRect">
            <a:avLst/>
          </a:prstGeom>
          <a:noFill/>
          <a:ln>
            <a:solidFill>
              <a:schemeClr val="accent1">
                <a:alpha val="25000"/>
              </a:schemeClr>
            </a:solidFill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3" name="image70.jpeg"/>
          <p:cNvPicPr>
            <a:picLocks noChangeAspect="1"/>
          </p:cNvPicPr>
          <p:nvPr/>
        </p:nvPicPr>
        <p:blipFill>
          <a:blip r:embed="rId3"/>
          <a:srcRect l="28635" r="28635"/>
          <a:stretch>
            <a:fillRect/>
          </a:stretch>
        </p:blipFill>
        <p:spPr>
          <a:xfrm>
            <a:off x="7935595" y="1222375"/>
            <a:ext cx="3296285" cy="5153660"/>
          </a:xfrm>
          <a:custGeom>
            <a:avLst/>
            <a:gdLst/>
            <a:ahLst/>
            <a:cxnLst/>
            <a:rect l="0" t="0" r="0" b="0"/>
            <a:pathLst>
              <a:path w="5191" h="8116">
                <a:moveTo>
                  <a:pt x="0" y="0"/>
                </a:moveTo>
                <a:lnTo>
                  <a:pt x="4326" y="0"/>
                </a:lnTo>
                <a:lnTo>
                  <a:pt x="5191" y="865"/>
                </a:lnTo>
                <a:lnTo>
                  <a:pt x="5191" y="8116"/>
                </a:lnTo>
                <a:lnTo>
                  <a:pt x="865" y="8116"/>
                </a:lnTo>
                <a:lnTo>
                  <a:pt x="0" y="7251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0">
                  <a:schemeClr val="accent1"/>
                </a:gs>
                <a:gs pos="52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/>
            </a:gradFill>
          </a:ln>
        </p:spPr>
      </p:pic>
      <p:sp>
        <p:nvSpPr>
          <p:cNvPr id="4" name="Freeform 4"/>
          <p:cNvSpPr/>
          <p:nvPr/>
        </p:nvSpPr>
        <p:spPr>
          <a:xfrm flipH="1">
            <a:off x="11085830" y="6006465"/>
            <a:ext cx="216000" cy="216000"/>
          </a:xfrm>
          <a:custGeom>
            <a:avLst/>
            <a:gdLst/>
            <a:ahLst/>
            <a:cxnLst/>
            <a:rect l="l" t="t" r="r" b="b"/>
            <a:pathLst>
              <a:path w="255" h="384">
                <a:moveTo>
                  <a:pt x="0" y="50"/>
                </a:moveTo>
                <a:lnTo>
                  <a:pt x="6" y="383"/>
                </a:lnTo>
                <a:lnTo>
                  <a:pt x="255" y="384"/>
                </a:lnTo>
                <a:lnTo>
                  <a:pt x="255" y="288"/>
                </a:lnTo>
                <a:lnTo>
                  <a:pt x="75" y="288"/>
                </a:lnTo>
                <a:lnTo>
                  <a:pt x="75" y="0"/>
                </a:lnTo>
                <a:lnTo>
                  <a:pt x="0" y="5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0255" y="1496695"/>
            <a:ext cx="6374765" cy="585470"/>
          </a:xfrm>
          <a:custGeom>
            <a:avLst/>
            <a:gdLst/>
            <a:ahLst/>
            <a:cxnLst/>
            <a:rect l="l" t="t" r="r" b="b"/>
            <a:pathLst>
              <a:path w="10573" h="1032">
                <a:moveTo>
                  <a:pt x="10573" y="0"/>
                </a:moveTo>
                <a:lnTo>
                  <a:pt x="10573" y="545"/>
                </a:lnTo>
                <a:lnTo>
                  <a:pt x="9607" y="1032"/>
                </a:lnTo>
                <a:lnTo>
                  <a:pt x="0" y="1032"/>
                </a:lnTo>
                <a:lnTo>
                  <a:pt x="0" y="487"/>
                </a:lnTo>
                <a:lnTo>
                  <a:pt x="544" y="9"/>
                </a:lnTo>
                <a:lnTo>
                  <a:pt x="10573" y="0"/>
                </a:lnTo>
                <a:close/>
              </a:path>
            </a:pathLst>
          </a:custGeom>
          <a:noFill/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</a:gradFill>
          </a:ln>
        </p:spPr>
        <p:txBody>
          <a:bodyPr rot="0" vert="horz" wrap="square" lIns="252095" tIns="0" rIns="0" bIns="0" anchor="ctr">
            <a:noAutofit/>
          </a:bodyPr>
          <a:lstStyle/>
          <a:p>
            <a:pPr marL="0" algn="l"/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Fine-grained synchronization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718820" y="1993900"/>
            <a:ext cx="161925" cy="215900"/>
          </a:xfrm>
          <a:custGeom>
            <a:avLst/>
            <a:gdLst/>
            <a:ahLst/>
            <a:cxnLst/>
            <a:rect l="l" t="t" r="r" b="b"/>
            <a:pathLst>
              <a:path w="255" h="384">
                <a:moveTo>
                  <a:pt x="0" y="50"/>
                </a:moveTo>
                <a:lnTo>
                  <a:pt x="6" y="383"/>
                </a:lnTo>
                <a:lnTo>
                  <a:pt x="255" y="384"/>
                </a:lnTo>
                <a:lnTo>
                  <a:pt x="255" y="288"/>
                </a:lnTo>
                <a:lnTo>
                  <a:pt x="75" y="288"/>
                </a:lnTo>
                <a:lnTo>
                  <a:pt x="75" y="0"/>
                </a:lnTo>
                <a:lnTo>
                  <a:pt x="0" y="5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 flipV="1">
            <a:off x="1136015" y="1428115"/>
            <a:ext cx="3743960" cy="36195"/>
          </a:xfrm>
          <a:custGeom>
            <a:avLst/>
            <a:gdLst/>
            <a:ahLst/>
            <a:cxnLst/>
            <a:rect l="l" t="t" r="r" b="b"/>
            <a:pathLst>
              <a:path w="1179613" h="21889">
                <a:moveTo>
                  <a:pt x="1157786" y="21889"/>
                </a:moveTo>
                <a:lnTo>
                  <a:pt x="1179613" y="0"/>
                </a:lnTo>
                <a:lnTo>
                  <a:pt x="0" y="0"/>
                </a:lnTo>
                <a:lnTo>
                  <a:pt x="21889" y="21889"/>
                </a:lnTo>
                <a:lnTo>
                  <a:pt x="1157786" y="21889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86000">
                <a:schemeClr val="accent1">
                  <a:alpha val="0"/>
                </a:schemeClr>
              </a:gs>
            </a:gsLst>
            <a:lin ang="2700000"/>
          </a:gra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70255" y="4003040"/>
            <a:ext cx="6374765" cy="585470"/>
          </a:xfrm>
          <a:custGeom>
            <a:avLst/>
            <a:gdLst/>
            <a:ahLst/>
            <a:cxnLst/>
            <a:rect l="l" t="t" r="r" b="b"/>
            <a:pathLst>
              <a:path w="10573" h="1032">
                <a:moveTo>
                  <a:pt x="10573" y="0"/>
                </a:moveTo>
                <a:lnTo>
                  <a:pt x="10573" y="545"/>
                </a:lnTo>
                <a:lnTo>
                  <a:pt x="9607" y="1032"/>
                </a:lnTo>
                <a:lnTo>
                  <a:pt x="0" y="1032"/>
                </a:lnTo>
                <a:lnTo>
                  <a:pt x="0" y="487"/>
                </a:lnTo>
                <a:lnTo>
                  <a:pt x="544" y="9"/>
                </a:lnTo>
                <a:lnTo>
                  <a:pt x="10573" y="0"/>
                </a:lnTo>
                <a:close/>
              </a:path>
            </a:pathLst>
          </a:custGeom>
          <a:noFill/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</a:gradFill>
          </a:ln>
        </p:spPr>
        <p:txBody>
          <a:bodyPr rot="0" vert="horz" wrap="square" lIns="252095" tIns="0" rIns="0" bIns="0" anchor="ctr">
            <a:noAutofit/>
          </a:bodyPr>
          <a:lstStyle/>
          <a:p>
            <a:pPr marL="0" algn="l"/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Parallel work across patients</a:t>
            </a:r>
          </a:p>
        </p:txBody>
      </p:sp>
      <p:sp>
        <p:nvSpPr>
          <p:cNvPr id="9" name="Freeform 9"/>
          <p:cNvSpPr/>
          <p:nvPr/>
        </p:nvSpPr>
        <p:spPr>
          <a:xfrm>
            <a:off x="718820" y="4500245"/>
            <a:ext cx="161925" cy="215900"/>
          </a:xfrm>
          <a:custGeom>
            <a:avLst/>
            <a:gdLst/>
            <a:ahLst/>
            <a:cxnLst/>
            <a:rect l="l" t="t" r="r" b="b"/>
            <a:pathLst>
              <a:path w="255" h="384">
                <a:moveTo>
                  <a:pt x="0" y="50"/>
                </a:moveTo>
                <a:lnTo>
                  <a:pt x="6" y="383"/>
                </a:lnTo>
                <a:lnTo>
                  <a:pt x="255" y="384"/>
                </a:lnTo>
                <a:lnTo>
                  <a:pt x="255" y="288"/>
                </a:lnTo>
                <a:lnTo>
                  <a:pt x="75" y="288"/>
                </a:lnTo>
                <a:lnTo>
                  <a:pt x="75" y="0"/>
                </a:lnTo>
                <a:lnTo>
                  <a:pt x="0" y="5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 flipV="1">
            <a:off x="1136015" y="3934460"/>
            <a:ext cx="3743960" cy="36195"/>
          </a:xfrm>
          <a:custGeom>
            <a:avLst/>
            <a:gdLst/>
            <a:ahLst/>
            <a:cxnLst/>
            <a:rect l="l" t="t" r="r" b="b"/>
            <a:pathLst>
              <a:path w="1179613" h="21889">
                <a:moveTo>
                  <a:pt x="1157786" y="21889"/>
                </a:moveTo>
                <a:lnTo>
                  <a:pt x="1179613" y="0"/>
                </a:lnTo>
                <a:lnTo>
                  <a:pt x="0" y="0"/>
                </a:lnTo>
                <a:lnTo>
                  <a:pt x="21889" y="21889"/>
                </a:lnTo>
                <a:lnTo>
                  <a:pt x="1157786" y="21889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86000">
                <a:schemeClr val="accent1">
                  <a:alpha val="0"/>
                </a:schemeClr>
              </a:gs>
            </a:gsLst>
            <a:lin ang="2700000"/>
          </a:gra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902335" y="2221230"/>
            <a:ext cx="6242685" cy="16465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Each patient record owns an independent mutex. A department thread must acquire that patient’s lock before modifying the record, so updates to the same patient are serialized safely.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902335" y="4723765"/>
            <a:ext cx="6242685" cy="16465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The lock protects only one patient at a time. Departments can update different patient records concurrently, preserving hospital-wide parallelism without relying on a heavy global lock.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3A7FFC"/>
          </a:solidFill>
        </p:spPr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3A7FFC"/>
                </a:solidFill>
                <a:latin typeface="思源黑体 Normal"/>
                <a:ea typeface="思源黑体 Normal"/>
              </a:rPr>
              <a:t>One Patient, One Lock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500" y="1943954"/>
            <a:ext cx="5144830" cy="4101202"/>
            <a:chOff x="0" y="0"/>
            <a:chExt cx="4280668" cy="3409678"/>
          </a:xfrm>
        </p:grpSpPr>
        <p:sp>
          <p:nvSpPr>
            <p:cNvPr id="3" name="Freeform 3"/>
            <p:cNvSpPr/>
            <p:nvPr/>
          </p:nvSpPr>
          <p:spPr>
            <a:xfrm rot="1748642">
              <a:off x="0" y="0"/>
              <a:ext cx="2211234" cy="2230539"/>
            </a:xfrm>
            <a:custGeom>
              <a:avLst/>
              <a:gdLst/>
              <a:ahLst/>
              <a:cxnLst/>
              <a:rect l="l" t="t" r="r" b="b"/>
              <a:pathLst>
                <a:path w="2997604" h="3024336">
                  <a:moveTo>
                    <a:pt x="2997604" y="1790780"/>
                  </a:moveTo>
                  <a:cubicBezTo>
                    <a:pt x="2867846" y="2492941"/>
                    <a:pt x="2252064" y="3024336"/>
                    <a:pt x="1512168" y="3024336"/>
                  </a:cubicBezTo>
                  <a:cubicBezTo>
                    <a:pt x="677021" y="3024336"/>
                    <a:pt x="0" y="2347315"/>
                    <a:pt x="0" y="1512168"/>
                  </a:cubicBezTo>
                  <a:cubicBezTo>
                    <a:pt x="0" y="677021"/>
                    <a:pt x="677021" y="0"/>
                    <a:pt x="1512168" y="0"/>
                  </a:cubicBezTo>
                  <a:cubicBezTo>
                    <a:pt x="1598138" y="0"/>
                    <a:pt x="1682432" y="7174"/>
                    <a:pt x="1764196" y="22675"/>
                  </a:cubicBezTo>
                </a:path>
              </a:pathLst>
            </a:custGeom>
            <a:ln w="6350" cap="flat" cmpd="sng">
              <a:solidFill>
                <a:schemeClr val="accent1"/>
              </a:solidFill>
              <a:prstDash val="dash"/>
              <a:miter lim="800000"/>
              <a:tailEnd type="triangle" w="lg" len="lg"/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l" fontAlgn="auto"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 rot="1748642">
              <a:off x="2072242" y="1513229"/>
              <a:ext cx="1573837" cy="746788"/>
            </a:xfrm>
            <a:custGeom>
              <a:avLst/>
              <a:gdLst/>
              <a:ahLst/>
              <a:cxnLst/>
              <a:rect l="l" t="t" r="r" b="b"/>
              <a:pathLst>
                <a:path w="2134918" h="1012045">
                  <a:moveTo>
                    <a:pt x="0" y="1012045"/>
                  </a:moveTo>
                  <a:cubicBezTo>
                    <a:pt x="28964" y="447977"/>
                    <a:pt x="495896" y="0"/>
                    <a:pt x="1067459" y="0"/>
                  </a:cubicBezTo>
                  <a:cubicBezTo>
                    <a:pt x="1639022" y="0"/>
                    <a:pt x="2105955" y="447977"/>
                    <a:pt x="2134918" y="1012045"/>
                  </a:cubicBezTo>
                </a:path>
              </a:pathLst>
            </a:custGeom>
            <a:ln w="6350" cap="flat" cmpd="sng">
              <a:solidFill>
                <a:schemeClr val="accent1"/>
              </a:solidFill>
              <a:prstDash val="dash"/>
              <a:miter lim="800000"/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l" fontAlgn="auto"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 rot="1748643" flipV="1">
              <a:off x="3158906" y="2877661"/>
              <a:ext cx="1121762" cy="532017"/>
            </a:xfrm>
            <a:custGeom>
              <a:avLst/>
              <a:gdLst/>
              <a:ahLst/>
              <a:cxnLst/>
              <a:rect l="l" t="t" r="r" b="b"/>
              <a:pathLst>
                <a:path w="2134918" h="1012045">
                  <a:moveTo>
                    <a:pt x="0" y="1012045"/>
                  </a:moveTo>
                  <a:cubicBezTo>
                    <a:pt x="28964" y="447977"/>
                    <a:pt x="495896" y="0"/>
                    <a:pt x="1067459" y="0"/>
                  </a:cubicBezTo>
                  <a:cubicBezTo>
                    <a:pt x="1639022" y="0"/>
                    <a:pt x="2105955" y="447977"/>
                    <a:pt x="2134918" y="1012045"/>
                  </a:cubicBezTo>
                </a:path>
              </a:pathLst>
            </a:custGeom>
            <a:ln w="6350" cap="flat" cmpd="sng">
              <a:solidFill>
                <a:schemeClr val="accent1"/>
              </a:solidFill>
              <a:prstDash val="dash"/>
              <a:miter lim="800000"/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l" fontAlgn="auto"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340797" y="2075654"/>
            <a:ext cx="2360439" cy="2362514"/>
          </a:xfrm>
          <a:prstGeom prst="ellipse">
            <a:avLst/>
          </a:prstGeom>
          <a:solidFill>
            <a:srgbClr val="3A7FFC"/>
          </a:solidFill>
          <a:ln>
            <a:noFill/>
          </a:ln>
          <a:effectLst>
            <a:outerShdw blurRad="127000" dist="127000" dir="5400000" algn="t" rotWithShape="0">
              <a:srgbClr val="000000">
                <a:alpha val="10000"/>
              </a:srgbClr>
            </a:outerShdw>
          </a:effectLst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r>
              <a:rPr lang="zh-CN" altLang="en-US" sz="2800">
                <a:solidFill>
                  <a:schemeClr val="bg1">
                    <a:lumMod val="95000"/>
                  </a:schemeClr>
                </a:solidFill>
                <a:latin typeface="思源黑体 Normal"/>
                <a:ea typeface="思源黑体 Normal"/>
              </a:rPr>
              <a:t>0</a:t>
            </a:r>
            <a:r>
              <a:rPr lang="en-US" sz="2800">
                <a:solidFill>
                  <a:schemeClr val="bg1">
                    <a:lumMod val="95000"/>
                  </a:schemeClr>
                </a:solidFill>
                <a:latin typeface="思源黑体 Normal"/>
                <a:ea typeface="思源黑体 Normal"/>
              </a:rPr>
              <a:t>1</a:t>
            </a:r>
          </a:p>
        </p:txBody>
      </p:sp>
      <p:sp>
        <p:nvSpPr>
          <p:cNvPr id="7" name="AutoShape 7"/>
          <p:cNvSpPr/>
          <p:nvPr/>
        </p:nvSpPr>
        <p:spPr>
          <a:xfrm>
            <a:off x="2490297" y="3835782"/>
            <a:ext cx="1669528" cy="1670911"/>
          </a:xfrm>
          <a:prstGeom prst="ellipse">
            <a:avLst/>
          </a:prstGeom>
          <a:solidFill>
            <a:srgbClr val="3A7FFC"/>
          </a:solidFill>
          <a:ln>
            <a:noFill/>
          </a:ln>
          <a:effectLst>
            <a:outerShdw blurRad="127000" dist="127000" dir="5400000" algn="t" rotWithShape="0">
              <a:srgbClr val="000000">
                <a:alpha val="10000"/>
              </a:srgbClr>
            </a:outerShdw>
          </a:effectLst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r>
              <a:rPr lang="zh-CN" altLang="en-US" sz="2800">
                <a:solidFill>
                  <a:schemeClr val="bg1">
                    <a:lumMod val="95000"/>
                  </a:schemeClr>
                </a:solidFill>
                <a:latin typeface="思源黑体 Normal"/>
                <a:ea typeface="思源黑体 Normal"/>
              </a:rPr>
              <a:t>02</a:t>
            </a:r>
          </a:p>
        </p:txBody>
      </p:sp>
      <p:sp>
        <p:nvSpPr>
          <p:cNvPr id="8" name="AutoShape 8"/>
          <p:cNvSpPr/>
          <p:nvPr/>
        </p:nvSpPr>
        <p:spPr>
          <a:xfrm rot="10800000" flipV="1">
            <a:off x="4302987" y="4763220"/>
            <a:ext cx="1190248" cy="1191631"/>
          </a:xfrm>
          <a:prstGeom prst="ellipse">
            <a:avLst/>
          </a:prstGeom>
          <a:solidFill>
            <a:srgbClr val="3A7FFC"/>
          </a:solidFill>
          <a:ln>
            <a:noFill/>
          </a:ln>
          <a:effectLst>
            <a:outerShdw blurRad="127000" dist="127000" dir="5400000" algn="t" rotWithShape="0">
              <a:srgbClr val="000000">
                <a:alpha val="10000"/>
              </a:srgbClr>
            </a:outerShdw>
          </a:effectLst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r>
              <a:rPr lang="zh-CN" altLang="en-US" sz="2800">
                <a:solidFill>
                  <a:schemeClr val="bg1">
                    <a:lumMod val="95000"/>
                  </a:schemeClr>
                </a:solidFill>
                <a:latin typeface="思源黑体 Normal"/>
                <a:ea typeface="思源黑体 Normal"/>
              </a:rPr>
              <a:t>0</a:t>
            </a:r>
            <a:r>
              <a:rPr lang="en-US" sz="2800">
                <a:solidFill>
                  <a:schemeClr val="bg1">
                    <a:lumMod val="95000"/>
                  </a:schemeClr>
                </a:solidFill>
                <a:latin typeface="思源黑体 Normal"/>
                <a:ea typeface="思源黑体 Normal"/>
              </a:rP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22320" y="1929765"/>
            <a:ext cx="8640000" cy="1080000"/>
          </a:xfrm>
          <a:prstGeom prst="rect">
            <a:avLst/>
          </a:prstGeom>
        </p:spPr>
        <p:txBody>
          <a:bodyPr vert="horz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ts val="1000"/>
              </a:spcBef>
              <a:buNone/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Startup arguments define the participating departments and initialize the registration environment. This makes the prototype configurable without changing the core implementation.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3322320" y="1561465"/>
            <a:ext cx="8639810" cy="43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Command-line configuration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408805" y="3483610"/>
            <a:ext cx="7560000" cy="1260000"/>
          </a:xfrm>
          <a:prstGeom prst="rect">
            <a:avLst/>
          </a:prstGeom>
        </p:spPr>
        <p:txBody>
          <a:bodyPr vert="horz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ts val="1000"/>
              </a:spcBef>
              <a:buNone/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The parent registration process manages the in-memory registry and department threads. A child Treatment Module receives emergency requests through a prioritized POSIX message queue.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408805" y="3115310"/>
            <a:ext cx="7560000" cy="43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Coordinated execution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660390" y="5217795"/>
            <a:ext cx="6300000" cy="1549400"/>
          </a:xfrm>
          <a:prstGeom prst="rect">
            <a:avLst/>
          </a:prstGeom>
        </p:spPr>
        <p:txBody>
          <a:bodyPr vert="horz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ts val="1000"/>
              </a:spcBef>
              <a:buNone/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Patient registration, search, update, and discharge operations are recorded in a file-based history log. The log creates traceability for operational review and system verification.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5660390" y="4849495"/>
            <a:ext cx="6300000" cy="43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Auditable patient lifecycle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3A7FFC"/>
          </a:solidFill>
        </p:spPr>
      </p:sp>
      <p:sp>
        <p:nvSpPr>
          <p:cNvPr id="16" name="TextBox 16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3A7FFC"/>
                </a:solidFill>
                <a:latin typeface="思源黑体 Normal"/>
                <a:ea typeface="思源黑体 Normal"/>
              </a:rPr>
              <a:t>End-to-End System Flow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165" y="1470855"/>
            <a:ext cx="3115310" cy="4417634"/>
          </a:xfrm>
          <a:prstGeom prst="round2DiagRect">
            <a:avLst>
              <a:gd name="adj1" fmla="val 17346"/>
              <a:gd name="adj2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3" name="image33.jpeg"/>
          <p:cNvPicPr>
            <a:picLocks noChangeAspect="1"/>
          </p:cNvPicPr>
          <p:nvPr/>
        </p:nvPicPr>
        <p:blipFill>
          <a:blip r:embed="rId3"/>
          <a:srcRect l="23508" r="23508"/>
          <a:stretch>
            <a:fillRect/>
          </a:stretch>
        </p:blipFill>
        <p:spPr>
          <a:xfrm>
            <a:off x="932180" y="1671858"/>
            <a:ext cx="3138805" cy="4442997"/>
          </a:xfrm>
          <a:prstGeom prst="round2DiagRect">
            <a:avLst>
              <a:gd name="adj1" fmla="val 15840"/>
              <a:gd name="adj2" fmla="val 0"/>
            </a:avLst>
          </a:prstGeom>
          <a:ln w="9525" cap="flat" cmpd="sng">
            <a:solidFill>
              <a:schemeClr val="tx1">
                <a:alpha val="20000"/>
                <a:lumMod val="100000"/>
              </a:schemeClr>
            </a:solidFill>
            <a:prstDash val="solid"/>
          </a:ln>
          <a:effectLst>
            <a:outerShdw blurRad="152400" dist="38100" dir="2700000" algn="tl" rotWithShape="0">
              <a:schemeClr val="tx1">
                <a:alpha val="20000"/>
              </a:scheme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4745990" y="1087120"/>
            <a:ext cx="6840000" cy="1728000"/>
          </a:xfrm>
          <a:prstGeom prst="roundRect">
            <a:avLst>
              <a:gd name="adj" fmla="val 10263"/>
            </a:avLst>
          </a:prstGeom>
          <a:solidFill>
            <a:srgbClr val="DAEEFD"/>
          </a:solidFill>
          <a:ln>
            <a:solidFill>
              <a:schemeClr val="accent1"/>
            </a:solidFill>
          </a:ln>
          <a:effectLst/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351655" y="1555197"/>
            <a:ext cx="791210" cy="791845"/>
          </a:xfrm>
          <a:prstGeom prst="ellipse">
            <a:avLst/>
          </a:prstGeom>
          <a:solidFill>
            <a:srgbClr val="3A7FFC"/>
          </a:solidFill>
          <a:ln>
            <a:noFill/>
          </a:ln>
          <a:effectLst/>
        </p:spPr>
        <p:txBody>
          <a:bodyPr vert="horz" wrap="none" lIns="0" tIns="0" rIns="0" bIns="0" anchor="ctr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lt1">
                    <a:lumMod val="100000"/>
                  </a:schemeClr>
                </a:solidFill>
                <a:latin typeface="思源黑体 Normal"/>
                <a:ea typeface="思源黑体 Normal"/>
              </a:rPr>
              <a:t>01</a:t>
            </a:r>
          </a:p>
        </p:txBody>
      </p:sp>
      <p:sp>
        <p:nvSpPr>
          <p:cNvPr id="6" name="AutoShape 6"/>
          <p:cNvSpPr/>
          <p:nvPr/>
        </p:nvSpPr>
        <p:spPr>
          <a:xfrm>
            <a:off x="4746765" y="2964181"/>
            <a:ext cx="6840000" cy="1728000"/>
          </a:xfrm>
          <a:prstGeom prst="roundRect">
            <a:avLst>
              <a:gd name="adj" fmla="val 10263"/>
            </a:avLst>
          </a:prstGeom>
          <a:solidFill>
            <a:srgbClr val="DAEEFD"/>
          </a:solidFill>
          <a:ln>
            <a:solidFill>
              <a:schemeClr val="accent1"/>
            </a:solidFill>
          </a:ln>
          <a:effectLst/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351085" y="3432181"/>
            <a:ext cx="792000" cy="792000"/>
          </a:xfrm>
          <a:prstGeom prst="ellipse">
            <a:avLst/>
          </a:prstGeom>
          <a:solidFill>
            <a:srgbClr val="3A7FFC"/>
          </a:solidFill>
          <a:ln>
            <a:noFill/>
          </a:ln>
          <a:effectLst/>
        </p:spPr>
        <p:txBody>
          <a:bodyPr vert="horz" wrap="none" lIns="0" tIns="0" rIns="0" bIns="0" anchor="ctr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lt1">
                    <a:lumMod val="100000"/>
                  </a:schemeClr>
                </a:solidFill>
                <a:latin typeface="思源黑体 Normal"/>
                <a:ea typeface="思源黑体 Normal"/>
              </a:rPr>
              <a:t>02</a:t>
            </a:r>
          </a:p>
        </p:txBody>
      </p:sp>
      <p:sp>
        <p:nvSpPr>
          <p:cNvPr id="8" name="AutoShape 8"/>
          <p:cNvSpPr/>
          <p:nvPr/>
        </p:nvSpPr>
        <p:spPr>
          <a:xfrm>
            <a:off x="4746765" y="4840923"/>
            <a:ext cx="6840000" cy="1728000"/>
          </a:xfrm>
          <a:prstGeom prst="roundRect">
            <a:avLst>
              <a:gd name="adj" fmla="val 10263"/>
            </a:avLst>
          </a:prstGeom>
          <a:solidFill>
            <a:srgbClr val="DAEEFD"/>
          </a:solidFill>
          <a:ln>
            <a:solidFill>
              <a:schemeClr val="accent1"/>
            </a:solidFill>
          </a:ln>
          <a:effectLst/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351085" y="5308923"/>
            <a:ext cx="792000" cy="792000"/>
          </a:xfrm>
          <a:prstGeom prst="ellipse">
            <a:avLst/>
          </a:prstGeom>
          <a:solidFill>
            <a:srgbClr val="3A7FFC"/>
          </a:solidFill>
          <a:ln>
            <a:noFill/>
          </a:ln>
          <a:effectLst/>
        </p:spPr>
        <p:txBody>
          <a:bodyPr vert="horz" wrap="none" lIns="0" tIns="0" rIns="0" bIns="0" anchor="ctr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lt1">
                    <a:lumMod val="100000"/>
                  </a:schemeClr>
                </a:solidFill>
                <a:latin typeface="思源黑体 Normal"/>
                <a:ea typeface="思源黑体 Normal"/>
              </a:rPr>
              <a:t>03</a:t>
            </a:r>
          </a:p>
        </p:txBody>
      </p:sp>
      <p:sp>
        <p:nvSpPr>
          <p:cNvPr id="10" name="Freeform 10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3A7FFC"/>
          </a:solidFill>
        </p:spPr>
      </p:sp>
      <p:sp>
        <p:nvSpPr>
          <p:cNvPr id="11" name="TextBox 11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3A7FFC"/>
                </a:solidFill>
                <a:latin typeface="思源黑体 Normal"/>
                <a:ea typeface="思源黑体 Normal"/>
              </a:rPr>
              <a:t>Operating System Technologies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277485" y="1565910"/>
            <a:ext cx="6120130" cy="12465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30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`pthread` threads represent independent departments that can process patient updates concurrently while sharing access to the registry.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277485" y="1095375"/>
            <a:ext cx="6120130" cy="59563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Concurrent department execution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5277485" y="3450590"/>
            <a:ext cx="6120130" cy="12465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30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`fork()` creates a separate Treatment Module process. POSIX message queues provide prioritized inter-process communication between registration and treatment operations.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5277485" y="2973705"/>
            <a:ext cx="6120130" cy="60198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Process separation and communication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5277485" y="5344795"/>
            <a:ext cx="6120130" cy="12465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30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`malloc()` and `realloc()` support a registry that expands as patient volume increases. An array of patient pointers provides direct access to live records while supporting flexible growth.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5277485" y="4852670"/>
            <a:ext cx="6120130" cy="61722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Dynamic registry management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5960" y="1906750"/>
            <a:ext cx="3420001" cy="247689"/>
          </a:xfrm>
          <a:prstGeom prst="rect">
            <a:avLst/>
          </a:prstGeom>
          <a:solidFill>
            <a:srgbClr val="3A7FFC"/>
          </a:solidFill>
          <a:ln>
            <a:noFill/>
          </a:ln>
          <a:effectLst>
            <a:outerShdw blurRad="254000" dist="101600" dir="2700000" algn="tl" rotWithShape="0">
              <a:schemeClr val="bg1">
                <a:alpha val="40000"/>
                <a:lumMod val="75000"/>
              </a:schemeClr>
            </a:outerShdw>
          </a:effectLst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95960" y="1981201"/>
            <a:ext cx="3420001" cy="3960000"/>
          </a:xfrm>
          <a:prstGeom prst="rect">
            <a:avLst/>
          </a:prstGeom>
          <a:solidFill>
            <a:srgbClr val="DAEEFD"/>
          </a:solidFill>
          <a:ln>
            <a:noFill/>
          </a:ln>
          <a:effectLst>
            <a:outerShdw blurRad="254000" dist="101600" dir="2700000" algn="tl" rotWithShape="0">
              <a:schemeClr val="tx1">
                <a:alpha val="15000"/>
                <a:lumMod val="75000"/>
                <a:lumOff val="25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386001" y="1906750"/>
            <a:ext cx="3420001" cy="247689"/>
          </a:xfrm>
          <a:prstGeom prst="rect">
            <a:avLst/>
          </a:prstGeom>
          <a:solidFill>
            <a:srgbClr val="3A7FFC"/>
          </a:solidFill>
          <a:ln>
            <a:noFill/>
          </a:ln>
          <a:effectLst>
            <a:outerShdw blurRad="254000" dist="101600" dir="2700000" algn="tl" rotWithShape="0">
              <a:schemeClr val="bg1">
                <a:alpha val="40000"/>
                <a:lumMod val="75000"/>
              </a:schemeClr>
            </a:outerShdw>
          </a:effectLst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385945" y="1981200"/>
            <a:ext cx="3420110" cy="3960000"/>
          </a:xfrm>
          <a:prstGeom prst="rect">
            <a:avLst/>
          </a:prstGeom>
          <a:solidFill>
            <a:srgbClr val="DAEEFD"/>
          </a:solidFill>
          <a:ln>
            <a:noFill/>
          </a:ln>
          <a:effectLst>
            <a:outerShdw blurRad="254000" dist="101600" dir="2700000" algn="tl" rotWithShape="0">
              <a:schemeClr val="tx1">
                <a:alpha val="15000"/>
                <a:lumMod val="75000"/>
                <a:lumOff val="25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076041" y="1906750"/>
            <a:ext cx="3420001" cy="247689"/>
          </a:xfrm>
          <a:prstGeom prst="rect">
            <a:avLst/>
          </a:prstGeom>
          <a:solidFill>
            <a:srgbClr val="3A7FFC"/>
          </a:solidFill>
          <a:ln>
            <a:noFill/>
          </a:ln>
          <a:effectLst>
            <a:outerShdw blurRad="254000" dist="101600" dir="2700000" algn="tl" rotWithShape="0">
              <a:schemeClr val="bg1">
                <a:alpha val="40000"/>
                <a:lumMod val="75000"/>
              </a:schemeClr>
            </a:outerShdw>
          </a:effectLst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076041" y="1981201"/>
            <a:ext cx="3420001" cy="3960000"/>
          </a:xfrm>
          <a:prstGeom prst="rect">
            <a:avLst/>
          </a:prstGeom>
          <a:solidFill>
            <a:srgbClr val="DAEEFD"/>
          </a:solidFill>
          <a:ln>
            <a:noFill/>
          </a:ln>
          <a:effectLst>
            <a:outerShdw blurRad="254000" dist="101600" dir="2700000" algn="tl" rotWithShape="0">
              <a:schemeClr val="tx1">
                <a:alpha val="15000"/>
                <a:lumMod val="75000"/>
                <a:lumOff val="25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4385310" y="2951480"/>
            <a:ext cx="3420110" cy="29889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A patient-record version counter increments after every successful update. This provides a visible indicator that all serialized operations were applied and retained.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695960" y="2951480"/>
            <a:ext cx="3420110" cy="29889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After the active thread updates and unlocks the record, the next waiting thread proceeds. Each department completes its operation without clobbering a previous update.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075930" y="2951480"/>
            <a:ext cx="3420110" cy="29889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The system maintains full concurrency across different patients while preventing lost or corrupted writes for the contested patient record.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95960" y="2202180"/>
            <a:ext cx="342074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Ordered completion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385310" y="2202180"/>
            <a:ext cx="342074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Version-based traceability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075930" y="2202180"/>
            <a:ext cx="342074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Demonstrated result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3A7FFC"/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3A7FFC"/>
                </a:solidFill>
                <a:latin typeface="思源黑体 Normal"/>
                <a:ea typeface="思源黑体 Normal"/>
              </a:rPr>
              <a:t>Serialized Updates Preserve Every Change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6000" y="1341726"/>
            <a:ext cx="5656527" cy="4934385"/>
          </a:xfrm>
          <a:custGeom>
            <a:avLst/>
            <a:gdLst/>
            <a:ahLst/>
            <a:cxnLst/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rgbClr val="DAEEFD"/>
          </a:solidFill>
          <a:ln cap="flat">
            <a:noFill/>
            <a:prstDash val="solid"/>
            <a:miter lim="800000"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 flipH="1" flipV="1">
            <a:off x="5763864" y="1341726"/>
            <a:ext cx="5656527" cy="4934385"/>
          </a:xfrm>
          <a:custGeom>
            <a:avLst/>
            <a:gdLst/>
            <a:ahLst/>
            <a:cxnLst/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rgbClr val="DAEEFD"/>
          </a:solidFill>
          <a:ln cap="flat">
            <a:noFill/>
            <a:prstDash val="solid"/>
            <a:miter lim="800000"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51230" y="1636994"/>
            <a:ext cx="864000" cy="828000"/>
          </a:xfrm>
          <a:prstGeom prst="rect">
            <a:avLst/>
          </a:prstGeom>
          <a:noFill/>
        </p:spPr>
        <p:txBody>
          <a:bodyPr vert="horz" wrap="square" lIns="90170" tIns="46990" rIns="90170" bIns="46990" anchor="b">
            <a:normAutofit/>
          </a:bodyPr>
          <a:lstStyle/>
          <a:p>
            <a:pPr marL="0" algn="l">
              <a:spcBef>
                <a:spcPct val="0"/>
              </a:spcBef>
              <a:spcAft>
                <a:spcPct val="0"/>
              </a:spcAft>
            </a:pPr>
            <a:r>
              <a:rPr lang="en-US" sz="3779" b="1">
                <a:solidFill>
                  <a:srgbClr val="3A7FFC"/>
                </a:solidFill>
                <a:latin typeface="思源黑体 Medium"/>
                <a:ea typeface="思源黑体 Medium"/>
              </a:rPr>
              <a:t>01</a:t>
            </a:r>
          </a:p>
        </p:txBody>
      </p:sp>
      <p:sp>
        <p:nvSpPr>
          <p:cNvPr id="5" name="AutoShape 5"/>
          <p:cNvSpPr/>
          <p:nvPr/>
        </p:nvSpPr>
        <p:spPr>
          <a:xfrm>
            <a:off x="10335836" y="1636994"/>
            <a:ext cx="864000" cy="828000"/>
          </a:xfrm>
          <a:prstGeom prst="rect">
            <a:avLst/>
          </a:prstGeom>
          <a:noFill/>
        </p:spPr>
        <p:txBody>
          <a:bodyPr vert="horz" wrap="square" lIns="90170" tIns="46990" rIns="90170" bIns="46990" anchor="b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3779" b="1">
                <a:solidFill>
                  <a:srgbClr val="3A7FFC"/>
                </a:solidFill>
                <a:latin typeface="思源黑体 Medium"/>
                <a:ea typeface="思源黑体 Medium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1230" y="2531745"/>
            <a:ext cx="4357370" cy="82804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Operational sequence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6842125" y="2533015"/>
            <a:ext cx="4357370" cy="82804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r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Real-time treatment dispatch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1230" y="3395980"/>
            <a:ext cx="4356000" cy="238252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REGISTER → SEARCH → UPDATE → DISCHARGE → AUDIT LOG → TREATMENT MODULE IPC</a:t>
            </a:r>
          </a:p>
        </p:txBody>
      </p:sp>
      <p:sp>
        <p:nvSpPr>
          <p:cNvPr id="9" name="AutoShape 9"/>
          <p:cNvSpPr/>
          <p:nvPr/>
        </p:nvSpPr>
        <p:spPr>
          <a:xfrm>
            <a:off x="6843495" y="3395980"/>
            <a:ext cx="4356000" cy="238252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r" fontAlgn="auto">
              <a:lnSpc>
                <a:spcPct val="150000"/>
              </a:lnSpc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Emergency requests are sent asynchronously to the separate Treatment Module. This separates patient registration from treatment dispatch while preserving coordinated communication.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3A7FFC"/>
                </a:solidFill>
                <a:latin typeface="思源黑体 Normal"/>
                <a:ea typeface="思源黑体 Normal"/>
              </a:rPr>
              <a:t>Complete Emergency Workflow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3A7FFC"/>
          </a:solidFill>
        </p:spPr>
      </p:sp>
      <p:sp>
        <p:nvSpPr>
          <p:cNvPr id="12" name="AutoShape 1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4661" y="1585024"/>
            <a:ext cx="4570894" cy="4535086"/>
            <a:chOff x="10570" y="2519"/>
            <a:chExt cx="7198" cy="7142"/>
          </a:xfrm>
        </p:grpSpPr>
        <p:sp>
          <p:nvSpPr>
            <p:cNvPr id="3" name="Freeform 3"/>
            <p:cNvSpPr/>
            <p:nvPr/>
          </p:nvSpPr>
          <p:spPr>
            <a:xfrm rot="11588930">
              <a:off x="10570" y="2844"/>
              <a:ext cx="6944" cy="6816"/>
            </a:xfrm>
            <a:custGeom>
              <a:avLst/>
              <a:gdLst/>
              <a:ahLst/>
              <a:cxnLst/>
              <a:rect l="l" t="t" r="r" b="b"/>
              <a:pathLst>
                <a:path w="2879096" h="2825937">
                  <a:moveTo>
                    <a:pt x="155801" y="656522"/>
                  </a:moveTo>
                  <a:cubicBezTo>
                    <a:pt x="280483" y="472785"/>
                    <a:pt x="506988" y="388965"/>
                    <a:pt x="723967" y="435637"/>
                  </a:cubicBezTo>
                  <a:cubicBezTo>
                    <a:pt x="907228" y="475071"/>
                    <a:pt x="1281656" y="484786"/>
                    <a:pt x="1725140" y="102453"/>
                  </a:cubicBezTo>
                  <a:cubicBezTo>
                    <a:pt x="1725140" y="102453"/>
                    <a:pt x="2146336" y="-241209"/>
                    <a:pt x="2574960" y="330291"/>
                  </a:cubicBezTo>
                  <a:cubicBezTo>
                    <a:pt x="3003585" y="901791"/>
                    <a:pt x="2879760" y="1720941"/>
                    <a:pt x="2794035" y="1930491"/>
                  </a:cubicBezTo>
                  <a:cubicBezTo>
                    <a:pt x="2708310" y="2140041"/>
                    <a:pt x="2460660" y="2835366"/>
                    <a:pt x="1851061" y="2825841"/>
                  </a:cubicBezTo>
                  <a:cubicBezTo>
                    <a:pt x="1241461" y="2816316"/>
                    <a:pt x="1451011" y="2175093"/>
                    <a:pt x="603286" y="1933729"/>
                  </a:cubicBezTo>
                  <a:cubicBezTo>
                    <a:pt x="-244440" y="1692366"/>
                    <a:pt x="22260" y="920841"/>
                    <a:pt x="107985" y="739866"/>
                  </a:cubicBezTo>
                  <a:cubicBezTo>
                    <a:pt x="121606" y="711291"/>
                    <a:pt x="137608" y="683288"/>
                    <a:pt x="155801" y="656522"/>
                  </a:cubicBezTo>
                  <a:close/>
                </a:path>
              </a:pathLst>
            </a:custGeom>
            <a:noFill/>
            <a:ln w="952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anchor="ctr"/>
            <a:lstStyle/>
            <a:p>
              <a:pPr marL="0" algn="l"/>
              <a:endParaRPr/>
            </a:p>
          </p:txBody>
        </p:sp>
        <p:pic>
          <p:nvPicPr>
            <p:cNvPr id="4" name="image70.jpeg"/>
            <p:cNvPicPr>
              <a:picLocks noChangeAspect="1"/>
            </p:cNvPicPr>
            <p:nvPr/>
          </p:nvPicPr>
          <p:blipFill rotWithShape="1">
            <a:blip r:embed="rId3"/>
            <a:srcRect l="14004" t="-5" r="14003" b="5"/>
            <a:stretch>
              <a:fillRect/>
            </a:stretch>
          </p:blipFill>
          <p:spPr>
            <a:xfrm rot="21445174">
              <a:off x="10657" y="2793"/>
              <a:ext cx="7111" cy="6598"/>
            </a:xfrm>
            <a:custGeom>
              <a:avLst/>
              <a:gdLst/>
              <a:ahLst/>
              <a:cxnLst/>
              <a:rect l="0" t="0" r="0" b="0"/>
              <a:pathLst>
                <a:path w="4515311" h="4189463">
                  <a:moveTo>
                    <a:pt x="1139864" y="1681"/>
                  </a:moveTo>
                  <a:cubicBezTo>
                    <a:pt x="1666331" y="38907"/>
                    <a:pt x="1958762" y="680183"/>
                    <a:pt x="3039740" y="494141"/>
                  </a:cubicBezTo>
                  <a:cubicBezTo>
                    <a:pt x="4370176" y="265163"/>
                    <a:pt x="4513638" y="1507199"/>
                    <a:pt x="4515307" y="1813904"/>
                  </a:cubicBezTo>
                  <a:cubicBezTo>
                    <a:pt x="4515453" y="1862388"/>
                    <a:pt x="4511932" y="1911661"/>
                    <a:pt x="4504565" y="1960680"/>
                  </a:cubicBezTo>
                  <a:cubicBezTo>
                    <a:pt x="4454282" y="2297034"/>
                    <a:pt x="4197159" y="2562971"/>
                    <a:pt x="3866646" y="2642434"/>
                  </a:cubicBezTo>
                  <a:cubicBezTo>
                    <a:pt x="3587485" y="2709528"/>
                    <a:pt x="3064108" y="2944432"/>
                    <a:pt x="2705395" y="3766393"/>
                  </a:cubicBezTo>
                  <a:cubicBezTo>
                    <a:pt x="2705395" y="3766393"/>
                    <a:pt x="2351807" y="4520184"/>
                    <a:pt x="1381038" y="4015432"/>
                  </a:cubicBezTo>
                  <a:cubicBezTo>
                    <a:pt x="410268" y="3510681"/>
                    <a:pt x="37969" y="2297647"/>
                    <a:pt x="17349" y="1951491"/>
                  </a:cubicBezTo>
                  <a:cubicBezTo>
                    <a:pt x="-3270" y="1605335"/>
                    <a:pt x="-122497" y="481134"/>
                    <a:pt x="725429" y="90005"/>
                  </a:cubicBezTo>
                  <a:cubicBezTo>
                    <a:pt x="884415" y="16668"/>
                    <a:pt x="1018371" y="-6910"/>
                    <a:pt x="1139864" y="1681"/>
                  </a:cubicBezTo>
                  <a:close/>
                </a:path>
              </a:pathLst>
            </a:custGeom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</p:pic>
        <p:sp>
          <p:nvSpPr>
            <p:cNvPr id="5" name="AutoShape 5"/>
            <p:cNvSpPr/>
            <p:nvPr/>
          </p:nvSpPr>
          <p:spPr>
            <a:xfrm>
              <a:off x="13808" y="2519"/>
              <a:ext cx="404" cy="40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16460" y="8648"/>
              <a:ext cx="252" cy="25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3620" y="1551940"/>
            <a:ext cx="5435600" cy="4601210"/>
            <a:chOff x="1657" y="2489"/>
            <a:chExt cx="8560" cy="7246"/>
          </a:xfrm>
        </p:grpSpPr>
        <p:sp>
          <p:nvSpPr>
            <p:cNvPr id="8" name="AutoShape 8"/>
            <p:cNvSpPr/>
            <p:nvPr/>
          </p:nvSpPr>
          <p:spPr>
            <a:xfrm>
              <a:off x="1657" y="3351"/>
              <a:ext cx="8560" cy="266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anchor="t">
              <a:normAutofit/>
            </a:bodyPr>
            <a:lstStyle/>
            <a:p>
              <a:pPr marL="0" indent="0" algn="l" fontAlgn="auto">
                <a:lnSpc>
                  <a:spcPct val="150000"/>
                </a:lnSpc>
              </a:pPr>
              <a:r>
                <a:rPr lang="en-US" sz="1500">
                  <a:solidFill>
                    <a:srgbClr val="262626"/>
                  </a:solidFill>
                  <a:latin typeface="思源黑体 Normal"/>
                  <a:ea typeface="思源黑体 Normal"/>
                </a:rPr>
                <a:t>Level 1 emergency messages receive the highest IPC priority, allowing urgent treatment dispatch to be processed before lower-severity requests.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7" y="2489"/>
              <a:ext cx="8560" cy="85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90000"/>
                </a:lnSpc>
                <a:defRPr/>
              </a:pPr>
              <a:r>
                <a:rPr lang="en-US" sz="2000" b="1">
                  <a:solidFill>
                    <a:srgbClr val="3A7FFC"/>
                  </a:solidFill>
                  <a:latin typeface="思源黑体 Normal"/>
                  <a:ea typeface="思源黑体 Normal"/>
                </a:rPr>
                <a:t>Priority-driven response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657" y="7071"/>
              <a:ext cx="8560" cy="266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anchor="t">
              <a:normAutofit/>
            </a:bodyPr>
            <a:lstStyle/>
            <a:p>
              <a:pPr marL="0" indent="0" algn="l" fontAlgn="auto">
                <a:lnSpc>
                  <a:spcPct val="150000"/>
                </a:lnSpc>
              </a:pPr>
              <a:r>
                <a:rPr lang="en-US" sz="1500">
                  <a:solidFill>
                    <a:srgbClr val="262626"/>
                  </a:solidFill>
                  <a:latin typeface="思源黑体 Normal"/>
                  <a:ea typeface="思源黑体 Normal"/>
                </a:rPr>
                <a:t>Registration, updates, and discharge events are written to an audit file. This supports accountability, debugging, and post-event reconstruction.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57" y="6226"/>
              <a:ext cx="8560" cy="85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90000"/>
                </a:lnSpc>
                <a:defRPr/>
              </a:pPr>
              <a:r>
                <a:rPr lang="en-US" sz="2000" b="1">
                  <a:solidFill>
                    <a:srgbClr val="3A7FFC"/>
                  </a:solidFill>
                  <a:latin typeface="思源黑体 Normal"/>
                  <a:ea typeface="思源黑体 Normal"/>
                </a:rPr>
                <a:t>Complete action history</a:t>
              </a:r>
              <a:endParaRPr lang="en-US" sz="11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3A7FFC"/>
          </a:solidFill>
        </p:spPr>
      </p:sp>
      <p:sp>
        <p:nvSpPr>
          <p:cNvPr id="13" name="TextBox 1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3A7FFC"/>
                </a:solidFill>
                <a:latin typeface="思源黑体 Normal"/>
                <a:ea typeface="思源黑体 Normal"/>
              </a:rPr>
              <a:t>Emergency Priority and Auditability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30901" y="4066494"/>
            <a:ext cx="3098118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pic>
        <p:nvPicPr>
          <p:cNvPr id="3" name="image11.jpeg"/>
          <p:cNvPicPr>
            <a:picLocks noChangeAspect="1"/>
          </p:cNvPicPr>
          <p:nvPr/>
        </p:nvPicPr>
        <p:blipFill>
          <a:blip r:embed="rId3"/>
          <a:srcRect t="2325" b="2325"/>
          <a:stretch>
            <a:fillRect/>
          </a:stretch>
        </p:blipFill>
        <p:spPr>
          <a:xfrm>
            <a:off x="723265" y="1275715"/>
            <a:ext cx="3114000" cy="1979215"/>
          </a:xfrm>
          <a:prstGeom prst="roundRect">
            <a:avLst>
              <a:gd name="adj" fmla="val 9726"/>
            </a:avLst>
          </a:pr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723265" y="3311525"/>
            <a:ext cx="3114000" cy="792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Safe and consistent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4546941" y="4066494"/>
            <a:ext cx="3098118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pic>
        <p:nvPicPr>
          <p:cNvPr id="6" name="image12.jpeg"/>
          <p:cNvPicPr>
            <a:picLocks noChangeAspect="1"/>
          </p:cNvPicPr>
          <p:nvPr/>
        </p:nvPicPr>
        <p:blipFill>
          <a:blip r:embed="rId4"/>
          <a:srcRect t="2325" b="2325"/>
          <a:stretch>
            <a:fillRect/>
          </a:stretch>
        </p:blipFill>
        <p:spPr>
          <a:xfrm>
            <a:off x="4510405" y="1275715"/>
            <a:ext cx="3115235" cy="1980000"/>
          </a:xfrm>
          <a:prstGeom prst="roundRect">
            <a:avLst>
              <a:gd name="adj" fmla="val 9726"/>
            </a:avLst>
          </a:pr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cxnSp>
        <p:nvCxnSpPr>
          <p:cNvPr id="7" name="Connector 7"/>
          <p:cNvCxnSpPr/>
          <p:nvPr/>
        </p:nvCxnSpPr>
        <p:spPr>
          <a:xfrm>
            <a:off x="8362981" y="4066494"/>
            <a:ext cx="3098118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pic>
        <p:nvPicPr>
          <p:cNvPr id="8" name="image22.jpeg"/>
          <p:cNvPicPr>
            <a:picLocks noChangeAspect="1"/>
          </p:cNvPicPr>
          <p:nvPr/>
        </p:nvPicPr>
        <p:blipFill>
          <a:blip r:embed="rId5"/>
          <a:srcRect l="2957" t="4" r="2768" b="10959"/>
          <a:stretch>
            <a:fillRect/>
          </a:stretch>
        </p:blipFill>
        <p:spPr>
          <a:xfrm>
            <a:off x="8324850" y="1275715"/>
            <a:ext cx="3115235" cy="1980000"/>
          </a:xfrm>
          <a:prstGeom prst="roundRect">
            <a:avLst>
              <a:gd name="adj" fmla="val 9726"/>
            </a:avLst>
          </a:pr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9" name="TextBox 9"/>
          <p:cNvSpPr txBox="1"/>
          <p:nvPr/>
        </p:nvSpPr>
        <p:spPr>
          <a:xfrm>
            <a:off x="723265" y="4123055"/>
            <a:ext cx="3114000" cy="268097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Patient records are protected from simultaneous overwrites, ensuring that concurrent departmental actions do not compromise clinical information.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24850" y="3311525"/>
            <a:ext cx="3114000" cy="792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Traceable and modular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10405" y="4123055"/>
            <a:ext cx="3114000" cy="268097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Updates for different patients proceed in parallel. Dynamic memory management allows the registry to grow without imposing a fixed patient limit.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10405" y="3311525"/>
            <a:ext cx="3114000" cy="792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Fast and scalable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24850" y="4123055"/>
            <a:ext cx="3114000" cy="268097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Audit logs capture system activity, while separate registration and treatment processes improve separation of concerns and create a foundation for fault isolation.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3A7FFC"/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3A7FFC"/>
                </a:solidFill>
                <a:latin typeface="思源黑体 Normal"/>
                <a:ea typeface="思源黑体 Normal"/>
              </a:rPr>
              <a:t>Why the Solution Matters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38325" y="1822450"/>
            <a:ext cx="9360000" cy="123571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Future versions can integrate a real hospital database and provide web or mobile dashboards for real-time patient-status visualization.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38325" y="1366520"/>
            <a:ext cx="9360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Persistence and visibility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838325" y="3717925"/>
            <a:ext cx="9360000" cy="123571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Doctor, ambulance, and patient-location modules could connect treatment decisions with RFID or GPS-based tracking.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38325" y="3274060"/>
            <a:ext cx="9360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End-to-end emergency coordination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838325" y="5560060"/>
            <a:ext cx="9360000" cy="123571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Authentication, role-based access control, cloud deployment, and AI-driven emergency prioritization could strengthen security, scalability, and resource allocation.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38325" y="5128260"/>
            <a:ext cx="9360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3A7FFC"/>
                </a:solidFill>
                <a:latin typeface="思源黑体 Normal"/>
                <a:ea typeface="思源黑体 Normal"/>
              </a:rPr>
              <a:t>Security and intelligent prioritization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4656" y="145014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1129400" y="1584888"/>
            <a:ext cx="368642" cy="36864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0" name="AutoShape 10"/>
          <p:cNvSpPr/>
          <p:nvPr/>
        </p:nvSpPr>
        <p:spPr>
          <a:xfrm>
            <a:off x="986401" y="3326569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1121145" y="3461313"/>
            <a:ext cx="368642" cy="36864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2" name="AutoShape 12"/>
          <p:cNvSpPr/>
          <p:nvPr/>
        </p:nvSpPr>
        <p:spPr>
          <a:xfrm>
            <a:off x="994656" y="521188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1129401" y="5346629"/>
            <a:ext cx="368642" cy="36864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3A7FFC"/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3A7FFC"/>
                </a:solidFill>
                <a:latin typeface="思源黑体 Normal"/>
                <a:ea typeface="思源黑体 Normal"/>
              </a:rPr>
              <a:t>From Prototype to Hospital Platform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l="-1000" t="-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8765" y="1351915"/>
            <a:ext cx="6108700" cy="19951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marL="0" algn="l">
              <a:defRPr/>
            </a:pPr>
            <a:endParaRPr lang="en-US" sz="1100" dirty="0"/>
          </a:p>
          <a:p>
            <a:pPr marL="0" indent="0" algn="l" fontAlgn="auto">
              <a:lnSpc>
                <a:spcPct val="110000"/>
              </a:lnSpc>
            </a:pPr>
            <a:r>
              <a:rPr lang="zh-CN" altLang="en-US" sz="6600" b="1" dirty="0">
                <a:solidFill>
                  <a:schemeClr val="bg1"/>
                </a:solidFill>
                <a:latin typeface="思源黑体 Medium"/>
                <a:ea typeface="思源黑体 Medium"/>
              </a:rPr>
              <a:t>Thank you 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299085" y="3469640"/>
            <a:ext cx="5721985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</a:ln>
        </p:spPr>
      </p:cxnSp>
      <p:sp>
        <p:nvSpPr>
          <p:cNvPr id="11" name="AutoShape 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">
      <a:dk1>
        <a:srgbClr val="262626"/>
      </a:dk1>
      <a:lt1>
        <a:srgbClr val="FFFFFF"/>
      </a:lt1>
      <a:dk2>
        <a:srgbClr val="3A7FFC"/>
      </a:dk2>
      <a:lt2>
        <a:srgbClr val="FFFFFF"/>
      </a:lt2>
      <a:accent1>
        <a:srgbClr val="3A7FFC"/>
      </a:accent1>
      <a:accent2>
        <a:srgbClr val="3A7FFC"/>
      </a:accent2>
      <a:accent3>
        <a:srgbClr val="3A7FFC"/>
      </a:accent3>
      <a:accent4>
        <a:srgbClr val="3A7FFC"/>
      </a:accent4>
      <a:accent5>
        <a:srgbClr val="3A7FFC"/>
      </a:accent5>
      <a:accent6>
        <a:srgbClr val="3A7FFC"/>
      </a:accent6>
      <a:hlink>
        <a:srgbClr val="262626"/>
      </a:hlink>
      <a:folHlink>
        <a:srgbClr val="262626"/>
      </a:folHlink>
    </a:clrScheme>
    <a:fontScheme name="Office">
      <a:majorFont>
        <a:latin typeface="思源黑体 Normal"/>
        <a:ea typeface="思源黑体 Normal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Normal"/>
        <a:ea typeface="思源黑体 Normal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727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YaHei</vt:lpstr>
      <vt:lpstr>Arial</vt:lpstr>
      <vt:lpstr>思源黑体 Medium</vt:lpstr>
      <vt:lpstr>思源黑体 Normal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Lahari Hema sai</dc:creator>
  <cp:lastModifiedBy>Lahari Hema sai</cp:lastModifiedBy>
  <cp:revision>2</cp:revision>
  <dcterms:created xsi:type="dcterms:W3CDTF">2026-08-27T17:25:57Z</dcterms:created>
  <dcterms:modified xsi:type="dcterms:W3CDTF">2026-08-27T17:32:07Z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{"ContentPropagator":"文多多","Label":"1","ReservedCode1":"1787851557729","ProduceID":"wenduoduo-pptx-1787851557729","ReservedCode2":"1787851557729","PropagateID":"wenduoduo-pptx1787851557729","ContentProducer":"文多多"}</vt:lpwstr>
  </property>
</Properties>
</file>